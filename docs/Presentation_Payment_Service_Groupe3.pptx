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21A2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548640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HACKATHON ACADÉMIQUE IPM 2026</a:t>
            </a:r>
          </a:p>
          <a:p>
            <a:pPr algn="ctr">
              <a:spcBef>
                <a:spcPts val="1400"/>
              </a:spcBef>
              <a:defRPr sz="3200" b="1">
                <a:solidFill>
                  <a:srgbClr val="F8FAFC"/>
                </a:solidFill>
              </a:defRPr>
            </a:pPr>
            <a:r>
              <a:t>Système Intelligent de Transport Public</a:t>
            </a:r>
            <a:br/>
            <a:r>
              <a:t>et de Paiement Numérique</a:t>
            </a:r>
          </a:p>
          <a:p>
            <a:pPr algn="ctr">
              <a:spcBef>
                <a:spcPts val="2000"/>
              </a:spcBef>
              <a:defRPr sz="2000" b="1">
                <a:solidFill>
                  <a:srgbClr val="FBBF24"/>
                </a:solidFill>
              </a:defRPr>
            </a:pPr>
            <a:r>
              <a:t>GROUPE 3 : PAYMENT SERVICE (SPRING BOOT &amp; ANGULAR)</a:t>
            </a:r>
          </a:p>
          <a:p>
            <a:pPr algn="ctr">
              <a:spcBef>
                <a:spcPts val="1600"/>
              </a:spcBef>
              <a:defRPr sz="1300">
                <a:solidFill>
                  <a:srgbClr val="94A3B8"/>
                </a:solidFill>
              </a:defRPr>
            </a:pPr>
            <a:r>
              <a:t>Gestion des Portefeuilles | Simulation Wave (+221 Sénégal) | Débit Trajet Bus | Détection de Fraude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HACKATHON ACADÉMIQUE IPM 2026 - GROUPE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1. Mission du Groupe 3 &amp; Contexte du Projet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🎯 MISSION DU GROUPE 3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Développer le microservice responsable de la gestion des paiements et des soldes virtuels.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Gérer les portefeuilles électroniques associés aux cartes de transport HAFILAT.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Permettre la recharge rapide via la simulation Wave Mobile Money (+221 Sénégal).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• Traiter les demandes de débit envoyées par le Transport Service (Groupe 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🔄 RÔLE DANS L'ARCHITECTURE GLOBAL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Étape 3 : L'usager recharge son portefeuille via Wave (+221).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Étape 6 : Le passager valide sa carte/QR Code dans le bus (Transport Service).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Étape 7 : Le Payment Service reçoit la demande et vérifie le solde disponible.</a:t>
            </a:r>
          </a:p>
          <a:p>
            <a:pPr>
              <a:spcBef>
                <a:spcPts val="1000"/>
              </a:spcBef>
              <a:defRPr sz="1300">
                <a:solidFill>
                  <a:srgbClr val="F8FAFC"/>
                </a:solidFill>
              </a:defRPr>
            </a:pPr>
            <a:r>
              <a:t>✔ Étape 8 : Débit automatique du tarif et enregistrement du reçu de transaction.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HACKATHON ACADÉMIQUE IPM 2026 - GROUPE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2. Fonctionnalités Réalisées (Obligatoires &amp; Bonus)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CORE FEATURES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Recharge Portefeuille via Wave Mobile Money (Sénégal +221).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Débit automatique de bus déclenché par NFC/QR Code.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Vérification de solde &amp; gestion d'erreur HTTP 402.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Calculateur tarifaire automatique par ligne et profil.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645920"/>
            <a:ext cx="3383280" cy="43891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OPTIONS BONUS INCLUSES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🚨 Détection de Fraude par IA/Règles (Passages trop rapprochés, tentatives répétées).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📊 Tableau de bord analytique des revenus et transactions.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💸 Gestion des remboursements (Refund API).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1645920"/>
            <a:ext cx="3383280" cy="4389120"/>
          </a:xfrm>
          <a:prstGeom prst="roundRect">
            <a:avLst/>
          </a:prstGeom>
          <a:solidFill>
            <a:srgbClr val="121A2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228600"/>
          <a:lstStyle/>
          <a:p>
            <a:pPr algn="ctr">
              <a:defRPr sz="1600" b="1">
                <a:solidFill>
                  <a:srgbClr val="10B981"/>
                </a:solidFill>
              </a:defRPr>
            </a:pPr>
            <a:r>
              <a:t>STACK TECHNIQUE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Backend : Java 17/21, Spring Boot 3, Spring Data JPA.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Sécurité : Spring Security &amp; JWT Filter.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Frontend : Angular 17+ (Design Abu Dhabi Bus).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• Documentation : Swagger UI OpenAPI 3.0.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HACKATHON ACADÉMIQUE IPM 2026 - GROUPE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3. Architecture API REST &amp; Base de Données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474720"/>
                <a:gridCol w="4023360"/>
                <a:gridCol w="1828800"/>
              </a:tblGrid>
              <a:tr h="7315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Méthode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Endpoint REST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Description Fonctionnelle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BBF24"/>
                          </a:solidFill>
                        </a:defRPr>
                      </a:pPr>
                      <a:r>
                        <a:t>Statut / Port</a:t>
                      </a:r>
                    </a:p>
                  </a:txBody>
                  <a:tcPr>
                    <a:solidFill>
                      <a:srgbClr val="121A2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/api/payments/wave/recharge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Recharge instantanée solde via simulation Wave (+221)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201 Created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/api/payments/process-ride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Validation et débit automatique passager bus (NFC/QR)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200 OK / 402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/api/fares/calculate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Calculateur automatique tarif selon ligne &amp; catégorie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200 OK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/api/fraud/alerts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Consultation des alertes de sécurité et fraudes détectées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200 OK (Bonus)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38BDF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/api/stats/dashboard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Tableau de bord des métriques financières globales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8FAFC"/>
                          </a:solidFill>
                        </a:defRPr>
                      </a:pPr>
                      <a:r>
                        <a:t>200 OK (Bonus)</a:t>
                      </a:r>
                    </a:p>
                  </a:txBody>
                  <a:tcPr>
                    <a:solidFill>
                      <a:srgbClr val="0B0F1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HACKATHON ACADÉMIQUE IPM 2026 - GROUPE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4. Démonstration Fonctionnelle &amp; Livrables Fournis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21A2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🎬 ÉTAPES DE LA DÉMONSTRATION EN DIRECT DEVENT LE JURY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1. Lancement de l'interface Angular (http://localhost:4200) : Carte virtuelle HAFILAT &amp; solde initial.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2. Simulation Recharge Wave (+221 77 000 00 00) : Crédit instantané du portefeuille de 5 000 XOF.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3. Simulation Trajet Bus (Interaction Groupe 2) : Validation du passager et débit automatique du solde.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4. Gestion du Solde Insuffisant &amp; Alerte Fraude : Blocage HTTP 402 et journalisation dans l'onglet Sécurité.</a:t>
            </a:r>
          </a:p>
          <a:p>
            <a:pPr>
              <a:spcBef>
                <a:spcPts val="1200"/>
              </a:spcBef>
              <a:defRPr sz="1300">
                <a:solidFill>
                  <a:srgbClr val="F8FAFC"/>
                </a:solidFill>
              </a:defRPr>
            </a:pPr>
            <a:r>
              <a:t>5. Consultation Swagger UI (http://localhost:8083/swagger-ui.html) : Documentation OpenAPI interactive.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